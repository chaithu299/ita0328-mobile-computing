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78" r:id="rId4"/>
    <p:sldId id="281" r:id="rId5"/>
    <p:sldId id="277" r:id="rId6"/>
    <p:sldId id="280" r:id="rId7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EE7E45F-4327-48B8-8B97-DC04348F6262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source: https://cdn.labellerr.com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32E5504-20B1-4A33-884E-AE46E2C19CD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source: https://pub.mdpi-res.com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CF15311-BF61-4811-B6B2-3EDEA8B8D8F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F72B3-A2D3-C0A3-8C15-429A7D193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>
            <a:extLst>
              <a:ext uri="{FF2B5EF4-FFF2-40B4-BE49-F238E27FC236}">
                <a16:creationId xmlns:a16="http://schemas.microsoft.com/office/drawing/2014/main" id="{19449B86-480D-F2CD-5DF8-59E6E51CF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7" name="PlaceHolder 2">
            <a:extLst>
              <a:ext uri="{FF2B5EF4-FFF2-40B4-BE49-F238E27FC236}">
                <a16:creationId xmlns:a16="http://schemas.microsoft.com/office/drawing/2014/main" id="{A6358C7D-E9E0-AC62-DAB4-3948100A422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source: https://pub.mdpi-res.com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>
            <a:extLst>
              <a:ext uri="{FF2B5EF4-FFF2-40B4-BE49-F238E27FC236}">
                <a16:creationId xmlns:a16="http://schemas.microsoft.com/office/drawing/2014/main" id="{2808CC02-B32E-FE5B-28DD-FF6AA37BCDBD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CF15311-BF61-4811-B6B2-3EDEA8B8D8F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6509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source: https://pub.mdpi-res.com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D98FB64-C592-4997-B69E-7353412106E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D9302D3-7BBB-4932-90ED-1A1F0736B20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7E64C98-CEF7-40AD-A75C-667A6A571EF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‹#›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93360" y="1150560"/>
            <a:ext cx="8127000" cy="1102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Co-channel and adjacent channel interference</a:t>
            </a:r>
            <a:endParaRPr lang="en-IN" sz="24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374040" y="3431520"/>
            <a:ext cx="3061800" cy="1236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/>
          </a:bodyPr>
          <a:lstStyle/>
          <a:p>
            <a:pPr indent="0">
              <a:lnSpc>
                <a:spcPct val="170000"/>
              </a:lnSpc>
              <a:buNone/>
              <a:tabLst>
                <a:tab pos="0" algn="l"/>
              </a:tabLst>
            </a:pPr>
            <a:r>
              <a:rPr lang="en-US" sz="15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             Presented by:</a:t>
            </a:r>
            <a:endParaRPr lang="en-IN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70000"/>
              </a:lnSpc>
              <a:buNone/>
              <a:tabLst>
                <a:tab pos="0" algn="l"/>
              </a:tabLst>
            </a:pPr>
            <a:r>
              <a:rPr lang="en-US" sz="13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B.Chaithanya Prakash Reddy(192425255)</a:t>
            </a:r>
            <a:endParaRPr lang="en-IN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                </a:t>
            </a:r>
            <a:endParaRPr lang="en-IN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Picture 4"/>
          <p:cNvPicPr/>
          <p:nvPr/>
        </p:nvPicPr>
        <p:blipFill>
          <a:blip r:embed="rId2"/>
          <a:stretch/>
        </p:blipFill>
        <p:spPr>
          <a:xfrm>
            <a:off x="267840" y="143640"/>
            <a:ext cx="851040" cy="10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Picture 5"/>
          <p:cNvPicPr/>
          <p:nvPr/>
        </p:nvPicPr>
        <p:blipFill>
          <a:blip r:embed="rId3"/>
          <a:stretch/>
        </p:blipFill>
        <p:spPr>
          <a:xfrm>
            <a:off x="7885800" y="143640"/>
            <a:ext cx="1139760" cy="100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TextBox 9"/>
          <p:cNvSpPr/>
          <p:nvPr/>
        </p:nvSpPr>
        <p:spPr>
          <a:xfrm>
            <a:off x="2219993" y="2202210"/>
            <a:ext cx="4570200" cy="73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21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Mo</a:t>
            </a:r>
            <a:r>
              <a:rPr lang="en-IN" sz="2100" b="1" dirty="0">
                <a:solidFill>
                  <a:schemeClr val="dk1"/>
                </a:solidFill>
                <a:latin typeface="Times New Roman"/>
              </a:rPr>
              <a:t>bile Computing</a:t>
            </a:r>
            <a:endParaRPr lang="en-IN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IN" sz="21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ITA0328</a:t>
            </a:r>
            <a:endParaRPr lang="en-IN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57200" y="22860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Optima"/>
              </a:rPr>
              <a:t>Introduction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1479240"/>
            <a:ext cx="411444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2" name="Picture 5"/>
          <p:cNvPicPr/>
          <p:nvPr/>
        </p:nvPicPr>
        <p:blipFill>
          <a:blip r:embed="rId3"/>
          <a:stretch/>
        </p:blipFill>
        <p:spPr>
          <a:xfrm>
            <a:off x="244800" y="113760"/>
            <a:ext cx="922320" cy="103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Picture 7"/>
          <p:cNvPicPr/>
          <p:nvPr/>
        </p:nvPicPr>
        <p:blipFill>
          <a:blip r:embed="rId4"/>
          <a:stretch/>
        </p:blipFill>
        <p:spPr>
          <a:xfrm>
            <a:off x="7624800" y="113760"/>
            <a:ext cx="1340640" cy="105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Box 11"/>
          <p:cNvSpPr/>
          <p:nvPr/>
        </p:nvSpPr>
        <p:spPr>
          <a:xfrm>
            <a:off x="893160" y="1390320"/>
            <a:ext cx="7356960" cy="26516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 occurs when unwanted signals affect mobile communication.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reduce signal quality, call clarity, and data speed.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main types are co-channel interference and adjacent-channel interference.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interference helps improve mobile network performance.</a:t>
            </a: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57200" y="22860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Text 1"/>
          <p:cNvSpPr/>
          <p:nvPr/>
        </p:nvSpPr>
        <p:spPr>
          <a:xfrm>
            <a:off x="1118160" y="1714860"/>
            <a:ext cx="651312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when two or more cells use the same frequency channel.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happens due to frequency reuse in cellular networks.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cause call drops, poor voice quality, and slower data transmission.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Increase the distance between cells using the same frequency and plan frequency reuse carefully.</a:t>
            </a: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endParaRPr lang="en-IN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9" name="Picture 5"/>
          <p:cNvPicPr/>
          <p:nvPr/>
        </p:nvPicPr>
        <p:blipFill>
          <a:blip r:embed="rId3"/>
          <a:stretch/>
        </p:blipFill>
        <p:spPr>
          <a:xfrm>
            <a:off x="244800" y="113760"/>
            <a:ext cx="873360" cy="877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7"/>
          <p:cNvPicPr/>
          <p:nvPr/>
        </p:nvPicPr>
        <p:blipFill>
          <a:blip r:embed="rId4"/>
          <a:stretch/>
        </p:blipFill>
        <p:spPr>
          <a:xfrm>
            <a:off x="7934040" y="171000"/>
            <a:ext cx="1031400" cy="82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Box 1"/>
          <p:cNvSpPr/>
          <p:nvPr/>
        </p:nvSpPr>
        <p:spPr>
          <a:xfrm>
            <a:off x="2511180" y="513977"/>
            <a:ext cx="336888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Co-Channel Interference (CCI)</a:t>
            </a:r>
            <a:endParaRPr lang="en-IN" sz="24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55192-7D57-24F6-9902-A3DA40623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>
            <a:extLst>
              <a:ext uri="{FF2B5EF4-FFF2-40B4-BE49-F238E27FC236}">
                <a16:creationId xmlns:a16="http://schemas.microsoft.com/office/drawing/2014/main" id="{78D69AA2-C420-837A-6CFA-673D0464BC4C}"/>
              </a:ext>
            </a:extLst>
          </p:cNvPr>
          <p:cNvSpPr/>
          <p:nvPr/>
        </p:nvSpPr>
        <p:spPr>
          <a:xfrm>
            <a:off x="457200" y="22860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Text 1">
            <a:extLst>
              <a:ext uri="{FF2B5EF4-FFF2-40B4-BE49-F238E27FC236}">
                <a16:creationId xmlns:a16="http://schemas.microsoft.com/office/drawing/2014/main" id="{F1C24CC5-B79C-8B8E-4B1D-B8FAAA16A582}"/>
              </a:ext>
            </a:extLst>
          </p:cNvPr>
          <p:cNvSpPr/>
          <p:nvPr/>
        </p:nvSpPr>
        <p:spPr>
          <a:xfrm>
            <a:off x="1118160" y="1714860"/>
            <a:ext cx="651312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when signals from nearby frequency channels interfere with each other.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may happen due to imperfect filters or signals that are too strong.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reduce reception quality and cause communication errors.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Use proper channel spacing, high-quality filters, and accurate transmitter power control.</a:t>
            </a: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endParaRPr lang="en-IN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9" name="Picture 5">
            <a:extLst>
              <a:ext uri="{FF2B5EF4-FFF2-40B4-BE49-F238E27FC236}">
                <a16:creationId xmlns:a16="http://schemas.microsoft.com/office/drawing/2014/main" id="{89B13346-8696-5C20-5771-C307B686494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44800" y="113760"/>
            <a:ext cx="873360" cy="877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7">
            <a:extLst>
              <a:ext uri="{FF2B5EF4-FFF2-40B4-BE49-F238E27FC236}">
                <a16:creationId xmlns:a16="http://schemas.microsoft.com/office/drawing/2014/main" id="{5E8890F9-1E37-E5B8-5426-EF72C4211C5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934040" y="171000"/>
            <a:ext cx="1031400" cy="82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Box 1">
            <a:extLst>
              <a:ext uri="{FF2B5EF4-FFF2-40B4-BE49-F238E27FC236}">
                <a16:creationId xmlns:a16="http://schemas.microsoft.com/office/drawing/2014/main" id="{C87B3DA5-D059-AFA4-DA76-7906BFF73691}"/>
              </a:ext>
            </a:extLst>
          </p:cNvPr>
          <p:cNvSpPr/>
          <p:nvPr/>
        </p:nvSpPr>
        <p:spPr>
          <a:xfrm>
            <a:off x="2511180" y="513977"/>
            <a:ext cx="336888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Adjacent-Channel Interference (ACI)</a:t>
            </a:r>
            <a:endParaRPr lang="en-IN" sz="24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021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457200" y="22860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and Conclusion</a:t>
            </a:r>
            <a:endParaRPr lang="en-IN" sz="24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5" name="Picture 5"/>
          <p:cNvPicPr/>
          <p:nvPr/>
        </p:nvPicPr>
        <p:blipFill>
          <a:blip r:embed="rId3"/>
          <a:stretch/>
        </p:blipFill>
        <p:spPr>
          <a:xfrm>
            <a:off x="244800" y="113760"/>
            <a:ext cx="873360" cy="877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Picture 7"/>
          <p:cNvPicPr/>
          <p:nvPr/>
        </p:nvPicPr>
        <p:blipFill>
          <a:blip r:embed="rId4"/>
          <a:stretch/>
        </p:blipFill>
        <p:spPr>
          <a:xfrm>
            <a:off x="7934040" y="171000"/>
            <a:ext cx="1031400" cy="8226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B3CC12-5C94-BA49-E4FA-00D8A0E01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139467"/>
              </p:ext>
            </p:extLst>
          </p:nvPr>
        </p:nvGraphicFramePr>
        <p:xfrm>
          <a:off x="799740" y="1675661"/>
          <a:ext cx="78867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55973421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7381118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Co-Channel Interference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Adjacent-Channel Interference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058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Same 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Nearby frequencies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717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Caused by frequency reuse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Caused by imperfect filtering or strong nearby signals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3488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Reduced by better frequency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Reduced by filtering and channel separation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343913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6366236-DD16-A4E8-8CDD-A3AF73085A10}"/>
              </a:ext>
            </a:extLst>
          </p:cNvPr>
          <p:cNvSpPr txBox="1"/>
          <p:nvPr/>
        </p:nvSpPr>
        <p:spPr>
          <a:xfrm>
            <a:off x="799740" y="3805771"/>
            <a:ext cx="7886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Conclusion: Both types of interference affect mobile communication. Proper frequency planning and filtering improve network quality, reliability, and speed.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1"/>
          <p:cNvSpPr/>
          <p:nvPr/>
        </p:nvSpPr>
        <p:spPr>
          <a:xfrm>
            <a:off x="3235680" y="2140200"/>
            <a:ext cx="2496600" cy="46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THANK YOU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</TotalTime>
  <Words>284</Words>
  <Application>Microsoft Office PowerPoint</Application>
  <PresentationFormat>On-screen Show (16:9)</PresentationFormat>
  <Paragraphs>41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Co-channel and adjacent channel interference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	Real-Time Pothole &amp; Road Damage Mapping System"paper 5 Modules</dc:title>
  <dc:subject>"	Real-Time Pothole &amp; Road Damage Mapping System"paper 5 Modules</dc:subject>
  <dc:creator>SlideMake.com</dc:creator>
  <dc:description/>
  <cp:lastModifiedBy>Chaithanya prakash Reddy</cp:lastModifiedBy>
  <cp:revision>20</cp:revision>
  <dcterms:created xsi:type="dcterms:W3CDTF">2026-08-04T02:29:31Z</dcterms:created>
  <dcterms:modified xsi:type="dcterms:W3CDTF">2026-10-21T09:09:38Z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